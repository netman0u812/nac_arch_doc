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0" r:id="rId5"/>
  </p:sldIdLst>
  <p:sldSz cx="6858000" cy="9144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D7E4AA-9B55-F2E0-0491-A7C0816AA933}" name="Shields, Anna" initials="AV" userId="S::annashields@kpmg.com::fecd5f78-4e23-47ad-b6ed-6381b42ea5b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0F784A-4B69-76CF-81A1-5D27D40015EC}" v="54" dt="2026-02-23T19:34:23.416"/>
    <p1510:client id="{8FA147AC-AC79-0781-D24A-FE4C770D0F9C}" v="17" dt="2026-02-23T20:00:47.9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92" d="100"/>
          <a:sy n="192" d="100"/>
        </p:scale>
        <p:origin x="124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496484"/>
            <a:ext cx="5143500" cy="318346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1F8C7-6839-522F-4480-2EE254714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B52121D-A78E-694C-E244-000121DFF904}"/>
              </a:ext>
            </a:extLst>
          </p:cNvPr>
          <p:cNvGrpSpPr/>
          <p:nvPr/>
        </p:nvGrpSpPr>
        <p:grpSpPr>
          <a:xfrm>
            <a:off x="0" y="9814"/>
            <a:ext cx="6303661" cy="1277412"/>
            <a:chOff x="-3496" y="-21697"/>
            <a:chExt cx="6303661" cy="1277412"/>
          </a:xfrm>
        </p:grpSpPr>
        <p:pic>
          <p:nvPicPr>
            <p:cNvPr id="4" name="Picture 3" descr="CVS Health">
              <a:extLst>
                <a:ext uri="{FF2B5EF4-FFF2-40B4-BE49-F238E27FC236}">
                  <a16:creationId xmlns:a16="http://schemas.microsoft.com/office/drawing/2014/main" id="{29C87C70-BBF9-785C-DB46-1D250B500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744" t="15171" r="12093" b="5000"/>
            <a:stretch>
              <a:fillRect/>
            </a:stretch>
          </p:blipFill>
          <p:spPr>
            <a:xfrm>
              <a:off x="-3496" y="-21697"/>
              <a:ext cx="2026701" cy="1277412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9221872-864E-234E-7A46-11E20EC9AB42}"/>
                </a:ext>
              </a:extLst>
            </p:cNvPr>
            <p:cNvSpPr txBox="1"/>
            <p:nvPr/>
          </p:nvSpPr>
          <p:spPr>
            <a:xfrm>
              <a:off x="1869934" y="354026"/>
              <a:ext cx="4430231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800" b="1"/>
                <a:t>Datacenter Consolidation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F077BA3-B93D-FA23-627F-C6DE09109575}"/>
              </a:ext>
            </a:extLst>
          </p:cNvPr>
          <p:cNvSpPr txBox="1"/>
          <p:nvPr/>
        </p:nvSpPr>
        <p:spPr>
          <a:xfrm>
            <a:off x="191038" y="7491754"/>
            <a:ext cx="3045573" cy="95410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C00000"/>
                </a:solidFill>
              </a:rPr>
              <a:t>Value of Consolidation and Migration</a:t>
            </a:r>
            <a:endParaRPr lang="en-US"/>
          </a:p>
          <a:p>
            <a:pPr marL="182880" indent="-182880">
              <a:buFont typeface="Wingdings"/>
              <a:buChar char="Ø"/>
            </a:pPr>
            <a:r>
              <a:rPr lang="en-US" sz="1100">
                <a:cs typeface="Segoe UI"/>
              </a:rPr>
              <a:t>Reduce operational complexity and cost</a:t>
            </a:r>
            <a:endParaRPr lang="en-US"/>
          </a:p>
          <a:p>
            <a:pPr marL="182880" indent="-182880">
              <a:buFont typeface="Wingdings"/>
              <a:buChar char="Ø"/>
            </a:pPr>
            <a:r>
              <a:rPr lang="en-US" sz="1100">
                <a:cs typeface="Segoe UI"/>
              </a:rPr>
              <a:t>Enhance scalability and resiliency</a:t>
            </a:r>
            <a:endParaRPr lang="en-US"/>
          </a:p>
          <a:p>
            <a:pPr marL="182880" indent="-182880">
              <a:buFont typeface="Wingdings"/>
              <a:buChar char="Ø"/>
            </a:pPr>
            <a:r>
              <a:rPr lang="en-US" sz="1100">
                <a:cs typeface="Segoe UI"/>
              </a:rPr>
              <a:t>Support future digital initiatives (AI, analytics, cloud-native apps)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050CCB-207B-DE94-D765-BC0B5100E69A}"/>
              </a:ext>
            </a:extLst>
          </p:cNvPr>
          <p:cNvSpPr txBox="1"/>
          <p:nvPr/>
        </p:nvSpPr>
        <p:spPr>
          <a:xfrm>
            <a:off x="3400872" y="4391526"/>
            <a:ext cx="3213231" cy="24160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C00000"/>
                </a:solidFill>
              </a:rPr>
              <a:t>How will this be achieved?</a:t>
            </a:r>
          </a:p>
          <a:p>
            <a:r>
              <a:rPr lang="en-US" sz="900" i="1">
                <a:ea typeface="+mn-lt"/>
                <a:cs typeface="+mn-lt"/>
              </a:rPr>
              <a:t>This program is a multi-workstream effort broken down into these teams:</a:t>
            </a:r>
          </a:p>
          <a:p>
            <a:r>
              <a:rPr lang="en-US" sz="1100" b="1">
                <a:solidFill>
                  <a:srgbClr val="C00000"/>
                </a:solidFill>
                <a:ea typeface="+mn-lt"/>
                <a:cs typeface="+mn-lt"/>
              </a:rPr>
              <a:t>x86</a:t>
            </a:r>
            <a:r>
              <a:rPr lang="en-US" sz="1100">
                <a:ea typeface="+mn-lt"/>
                <a:cs typeface="+mn-lt"/>
              </a:rPr>
              <a:t>: Manages the inventory, validation, and migration of all x86 systems—including VMs, physical servers, containers, and VDI—across in-scope data centers.</a:t>
            </a:r>
          </a:p>
          <a:p>
            <a:r>
              <a:rPr lang="en-US" sz="1100" b="1">
                <a:solidFill>
                  <a:srgbClr val="C00000"/>
                </a:solidFill>
              </a:rPr>
              <a:t>Network</a:t>
            </a:r>
            <a:r>
              <a:rPr lang="en-US" sz="1100"/>
              <a:t>:</a:t>
            </a:r>
            <a:r>
              <a:rPr lang="en-US" sz="1100">
                <a:ea typeface="+mn-lt"/>
                <a:cs typeface="+mn-lt"/>
              </a:rPr>
              <a:t> Delivers secure, resilient connectivity by designing and deploying circuits, firewalls, DMZs, and telecom systems. </a:t>
            </a:r>
          </a:p>
          <a:p>
            <a:r>
              <a:rPr lang="en-US" sz="1100" b="1">
                <a:solidFill>
                  <a:srgbClr val="C00000"/>
                </a:solidFill>
              </a:rPr>
              <a:t>Migration Planning</a:t>
            </a:r>
            <a:r>
              <a:rPr lang="en-US" sz="1100"/>
              <a:t>: </a:t>
            </a:r>
            <a:r>
              <a:rPr lang="en-US" sz="1100">
                <a:latin typeface="Segoe UI"/>
                <a:ea typeface="+mn-lt"/>
                <a:cs typeface="Segoe UI"/>
              </a:rPr>
              <a:t>Drives application discovery and migration planning, defining dependencies, sequencing, and readiness.</a:t>
            </a:r>
          </a:p>
          <a:p>
            <a:endParaRPr lang="en-US" sz="11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E6692E4-FBDF-441F-62E6-AD10D1222ABB}"/>
              </a:ext>
            </a:extLst>
          </p:cNvPr>
          <p:cNvGrpSpPr/>
          <p:nvPr/>
        </p:nvGrpSpPr>
        <p:grpSpPr>
          <a:xfrm>
            <a:off x="207453" y="8364884"/>
            <a:ext cx="6550875" cy="615553"/>
            <a:chOff x="111607" y="7335291"/>
            <a:chExt cx="6778137" cy="61555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DE0A3E-7F31-76D7-22B0-62FC2F8A901A}"/>
                </a:ext>
              </a:extLst>
            </p:cNvPr>
            <p:cNvSpPr txBox="1"/>
            <p:nvPr/>
          </p:nvSpPr>
          <p:spPr>
            <a:xfrm>
              <a:off x="111607" y="7335291"/>
              <a:ext cx="6778137" cy="61555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200" b="1">
                  <a:solidFill>
                    <a:srgbClr val="C00000"/>
                  </a:solidFill>
                </a:rPr>
                <a:t>Project Sponsors &amp; Stakeholders</a:t>
              </a:r>
            </a:p>
            <a:p>
              <a:r>
                <a:rPr lang="en-US" sz="1100" b="1">
                  <a:solidFill>
                    <a:srgbClr val="C00000"/>
                  </a:solidFill>
                </a:rPr>
                <a:t>          </a:t>
              </a:r>
              <a:r>
                <a:rPr lang="en-US" sz="1100" b="1"/>
                <a:t>     </a:t>
              </a:r>
            </a:p>
            <a:p>
              <a:r>
                <a:rPr lang="en-US" sz="1100" b="1"/>
                <a:t>                         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38FFCC9-68A6-EFC3-34ED-B94420E0A63D}"/>
                </a:ext>
              </a:extLst>
            </p:cNvPr>
            <p:cNvGrpSpPr/>
            <p:nvPr/>
          </p:nvGrpSpPr>
          <p:grpSpPr>
            <a:xfrm>
              <a:off x="128800" y="7622838"/>
              <a:ext cx="6758172" cy="273996"/>
              <a:chOff x="128800" y="7622838"/>
              <a:chExt cx="6758172" cy="27399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E403F031-7257-520B-4CCF-A7584CDCEE98}"/>
                  </a:ext>
                </a:extLst>
              </p:cNvPr>
              <p:cNvGrpSpPr/>
              <p:nvPr/>
            </p:nvGrpSpPr>
            <p:grpSpPr>
              <a:xfrm>
                <a:off x="128800" y="7630959"/>
                <a:ext cx="1322321" cy="263547"/>
                <a:chOff x="128800" y="7630959"/>
                <a:chExt cx="1322321" cy="263547"/>
              </a:xfrm>
            </p:grpSpPr>
            <p:pic>
              <p:nvPicPr>
                <p:cNvPr id="17" name="Graphic 30" descr="User with solid fill">
                  <a:extLst>
                    <a:ext uri="{FF2B5EF4-FFF2-40B4-BE49-F238E27FC236}">
                      <a16:creationId xmlns:a16="http://schemas.microsoft.com/office/drawing/2014/main" id="{A4E8C786-DEA2-333A-B89F-6B61516AD2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8800" y="7630959"/>
                  <a:ext cx="263398" cy="240190"/>
                </a:xfrm>
                <a:prstGeom prst="rect">
                  <a:avLst/>
                </a:prstGeom>
              </p:spPr>
            </p:pic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B95C690-7D0E-8BBF-DF32-F6C9BE113654}"/>
                    </a:ext>
                  </a:extLst>
                </p:cNvPr>
                <p:cNvSpPr txBox="1"/>
                <p:nvPr/>
              </p:nvSpPr>
              <p:spPr>
                <a:xfrm>
                  <a:off x="130601" y="7632896"/>
                  <a:ext cx="1320520" cy="261610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100"/>
                    <a:t>     Saul Mankes</a:t>
                  </a: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9C11FCF6-14FF-1248-06D8-5AC6425B3220}"/>
                  </a:ext>
                </a:extLst>
              </p:cNvPr>
              <p:cNvGrpSpPr/>
              <p:nvPr/>
            </p:nvGrpSpPr>
            <p:grpSpPr>
              <a:xfrm>
                <a:off x="1423974" y="7632505"/>
                <a:ext cx="1322322" cy="263548"/>
                <a:chOff x="1650478" y="7632505"/>
                <a:chExt cx="1322322" cy="263548"/>
              </a:xfrm>
            </p:grpSpPr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7EDEA69-5F84-7F9A-E955-E194A8D9BD54}"/>
                    </a:ext>
                  </a:extLst>
                </p:cNvPr>
                <p:cNvSpPr txBox="1"/>
                <p:nvPr/>
              </p:nvSpPr>
              <p:spPr>
                <a:xfrm>
                  <a:off x="1652280" y="7634443"/>
                  <a:ext cx="1320520" cy="261610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100"/>
                    <a:t>      Jesse Jones</a:t>
                  </a:r>
                  <a:endParaRPr lang="en-US"/>
                </a:p>
              </p:txBody>
            </p:sp>
            <p:pic>
              <p:nvPicPr>
                <p:cNvPr id="27" name="Graphic 30" descr="User with solid fill">
                  <a:extLst>
                    <a:ext uri="{FF2B5EF4-FFF2-40B4-BE49-F238E27FC236}">
                      <a16:creationId xmlns:a16="http://schemas.microsoft.com/office/drawing/2014/main" id="{2C172A4A-9455-1F4F-BFF1-DC47EAA4E1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50478" y="7632505"/>
                  <a:ext cx="263398" cy="240190"/>
                </a:xfrm>
                <a:prstGeom prst="rect">
                  <a:avLst/>
                </a:prstGeom>
              </p:spPr>
            </p:pic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B1ADAD00-8A90-A723-D06C-64C7225F6718}"/>
                  </a:ext>
                </a:extLst>
              </p:cNvPr>
              <p:cNvGrpSpPr/>
              <p:nvPr/>
            </p:nvGrpSpPr>
            <p:grpSpPr>
              <a:xfrm>
                <a:off x="2714034" y="7622838"/>
                <a:ext cx="1322321" cy="261610"/>
                <a:chOff x="2764468" y="7622838"/>
                <a:chExt cx="1322321" cy="261610"/>
              </a:xfrm>
            </p:grpSpPr>
            <p:pic>
              <p:nvPicPr>
                <p:cNvPr id="26" name="Graphic 30" descr="User with solid fill">
                  <a:extLst>
                    <a:ext uri="{FF2B5EF4-FFF2-40B4-BE49-F238E27FC236}">
                      <a16:creationId xmlns:a16="http://schemas.microsoft.com/office/drawing/2014/main" id="{B8AE93EC-5372-B008-87C0-76B8AA8619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64468" y="7632505"/>
                  <a:ext cx="263398" cy="240190"/>
                </a:xfrm>
                <a:prstGeom prst="rect">
                  <a:avLst/>
                </a:prstGeom>
              </p:spPr>
            </p:pic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964677C-7684-CD6A-04EF-8A9ADB03F518}"/>
                    </a:ext>
                  </a:extLst>
                </p:cNvPr>
                <p:cNvSpPr txBox="1"/>
                <p:nvPr/>
              </p:nvSpPr>
              <p:spPr>
                <a:xfrm>
                  <a:off x="2766269" y="7622838"/>
                  <a:ext cx="1320520" cy="261610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100"/>
                    <a:t>     Heather LaPolt</a:t>
                  </a: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63C030E-EB5B-A637-1FD5-16C5B963FE59}"/>
                  </a:ext>
                </a:extLst>
              </p:cNvPr>
              <p:cNvGrpSpPr/>
              <p:nvPr/>
            </p:nvGrpSpPr>
            <p:grpSpPr>
              <a:xfrm>
                <a:off x="3996489" y="7632128"/>
                <a:ext cx="1320520" cy="261610"/>
                <a:chOff x="3965485" y="7632128"/>
                <a:chExt cx="1320520" cy="261610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98D5910-CE62-6725-9FD1-A2DA82C2BA70}"/>
                    </a:ext>
                  </a:extLst>
                </p:cNvPr>
                <p:cNvSpPr txBox="1"/>
                <p:nvPr/>
              </p:nvSpPr>
              <p:spPr>
                <a:xfrm>
                  <a:off x="3965485" y="7632128"/>
                  <a:ext cx="1320520" cy="261610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100"/>
                    <a:t>         Marizia Lopez</a:t>
                  </a:r>
                </a:p>
              </p:txBody>
            </p:sp>
            <p:pic>
              <p:nvPicPr>
                <p:cNvPr id="30" name="Graphic 30" descr="User with solid fill">
                  <a:extLst>
                    <a:ext uri="{FF2B5EF4-FFF2-40B4-BE49-F238E27FC236}">
                      <a16:creationId xmlns:a16="http://schemas.microsoft.com/office/drawing/2014/main" id="{7DDE8963-2DBD-8C03-FA9F-B61978D48E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79726" y="7641796"/>
                  <a:ext cx="263398" cy="240190"/>
                </a:xfrm>
                <a:prstGeom prst="rect">
                  <a:avLst/>
                </a:prstGeom>
              </p:spPr>
            </p:pic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263D1D24-730A-3E72-C99C-CF135A6115BA}"/>
                  </a:ext>
                </a:extLst>
              </p:cNvPr>
              <p:cNvGrpSpPr/>
              <p:nvPr/>
            </p:nvGrpSpPr>
            <p:grpSpPr>
              <a:xfrm>
                <a:off x="5309365" y="7633288"/>
                <a:ext cx="1577607" cy="263546"/>
                <a:chOff x="5309365" y="7633288"/>
                <a:chExt cx="1577607" cy="263546"/>
              </a:xfrm>
            </p:grpSpPr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3EFC3601-25D1-F5BD-9311-23CADFF4D02E}"/>
                    </a:ext>
                  </a:extLst>
                </p:cNvPr>
                <p:cNvSpPr txBox="1"/>
                <p:nvPr/>
              </p:nvSpPr>
              <p:spPr>
                <a:xfrm>
                  <a:off x="5311163" y="7635224"/>
                  <a:ext cx="1575809" cy="261610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100"/>
                    <a:t>     Marcus Brakewood</a:t>
                  </a:r>
                </a:p>
              </p:txBody>
            </p:sp>
            <p:pic>
              <p:nvPicPr>
                <p:cNvPr id="32" name="Graphic 30" descr="User with solid fill">
                  <a:extLst>
                    <a:ext uri="{FF2B5EF4-FFF2-40B4-BE49-F238E27FC236}">
                      <a16:creationId xmlns:a16="http://schemas.microsoft.com/office/drawing/2014/main" id="{DA5FE3C9-3AFA-9E35-BA7F-3BA981DBC0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09365" y="7633288"/>
                  <a:ext cx="263398" cy="240190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F8E3228-696A-DE09-E7B6-C9FD87EA12A6}"/>
              </a:ext>
            </a:extLst>
          </p:cNvPr>
          <p:cNvSpPr txBox="1"/>
          <p:nvPr/>
        </p:nvSpPr>
        <p:spPr>
          <a:xfrm>
            <a:off x="206522" y="3329960"/>
            <a:ext cx="3051791" cy="40010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C00000"/>
                </a:solidFill>
              </a:rPr>
              <a:t>What infrastructure is being migrated?</a:t>
            </a:r>
          </a:p>
          <a:p>
            <a:r>
              <a:rPr lang="en-US" sz="1100" b="1">
                <a:solidFill>
                  <a:srgbClr val="C00000"/>
                </a:solidFill>
                <a:ea typeface="+mn-lt"/>
                <a:cs typeface="+mn-lt"/>
              </a:rPr>
              <a:t>Applications</a:t>
            </a:r>
            <a:r>
              <a:rPr lang="en-US" sz="1100">
                <a:ea typeface="+mn-lt"/>
                <a:cs typeface="+mn-lt"/>
              </a:rPr>
              <a:t>: Business-critical, development, testing, pre-production, and production environments will be migrated. The migration will follow a wave-based approach, beginning with lower environments to minimize risk.</a:t>
            </a:r>
          </a:p>
          <a:p>
            <a:r>
              <a:rPr lang="en-US" sz="1100" b="1">
                <a:solidFill>
                  <a:srgbClr val="C00000"/>
                </a:solidFill>
              </a:rPr>
              <a:t>Physical and Virtual Servers</a:t>
            </a:r>
            <a:r>
              <a:rPr lang="en-US" sz="1100"/>
              <a:t>:</a:t>
            </a:r>
            <a:r>
              <a:rPr lang="en-US" sz="1100">
                <a:ea typeface="+mn-lt"/>
                <a:cs typeface="+mn-lt"/>
              </a:rPr>
              <a:t> Compute resources, including x86 platforms, IBM mainframes (iSeries, AIX, Z Series), HP NonStops, VMs, and containers. </a:t>
            </a:r>
          </a:p>
          <a:p>
            <a:r>
              <a:rPr lang="en-US" sz="1100" b="1">
                <a:solidFill>
                  <a:srgbClr val="C00000"/>
                </a:solidFill>
                <a:ea typeface="+mn-lt"/>
                <a:cs typeface="+mn-lt"/>
              </a:rPr>
              <a:t>Networking</a:t>
            </a:r>
            <a:r>
              <a:rPr lang="en-US" sz="1100"/>
              <a:t>: </a:t>
            </a:r>
            <a:r>
              <a:rPr lang="en-US" sz="1100">
                <a:ea typeface="+mn-lt"/>
                <a:cs typeface="+mn-lt"/>
              </a:rPr>
              <a:t>Core network fabrics, switches, routers, firewalls, DMZs, and internal connectivity required to support all migrated compute and storage.</a:t>
            </a:r>
          </a:p>
          <a:p>
            <a:r>
              <a:rPr lang="en-US" sz="1100" b="1">
                <a:solidFill>
                  <a:srgbClr val="C00000"/>
                </a:solidFill>
                <a:ea typeface="+mn-lt"/>
                <a:cs typeface="+mn-lt"/>
              </a:rPr>
              <a:t>Third-Party Connections</a:t>
            </a:r>
            <a:r>
              <a:rPr lang="en-US" sz="1100"/>
              <a:t>: </a:t>
            </a:r>
            <a:r>
              <a:rPr lang="en-US" sz="1100">
                <a:ea typeface="+mn-lt"/>
                <a:cs typeface="+mn-lt"/>
              </a:rPr>
              <a:t>External business-to-business (B2B) circuits, VPN tunnels, and direct connects with external partners.</a:t>
            </a:r>
          </a:p>
          <a:p>
            <a:r>
              <a:rPr lang="en-US" sz="1100" b="1">
                <a:solidFill>
                  <a:srgbClr val="C00000"/>
                </a:solidFill>
                <a:ea typeface="+mn-lt"/>
                <a:cs typeface="+mn-lt"/>
              </a:rPr>
              <a:t>Telecom</a:t>
            </a:r>
            <a:r>
              <a:rPr lang="en-US" sz="1100"/>
              <a:t>: Voice and data telecom appliances and circuits.</a:t>
            </a:r>
          </a:p>
          <a:p>
            <a:r>
              <a:rPr lang="en-US" sz="1100" b="1">
                <a:solidFill>
                  <a:srgbClr val="C00000"/>
                </a:solidFill>
                <a:ea typeface="+mn-lt"/>
                <a:cs typeface="+mn-lt"/>
              </a:rPr>
              <a:t>Platforms</a:t>
            </a:r>
            <a:r>
              <a:rPr lang="en-US" sz="1100"/>
              <a:t>: Databases and middleware (including ESL, FileNet, MFT, WebSphere)</a:t>
            </a:r>
          </a:p>
          <a:p>
            <a:r>
              <a:rPr lang="en-US" sz="1100" b="1">
                <a:solidFill>
                  <a:srgbClr val="C00000"/>
                </a:solidFill>
                <a:ea typeface="+mn-lt"/>
                <a:cs typeface="+mn-lt"/>
              </a:rPr>
              <a:t>Cloud Connectivity</a:t>
            </a:r>
            <a:r>
              <a:rPr lang="en-US" sz="1100"/>
              <a:t>: </a:t>
            </a:r>
            <a:r>
              <a:rPr lang="en-US" sz="1100">
                <a:ea typeface="+mn-lt"/>
                <a:cs typeface="+mn-lt"/>
              </a:rPr>
              <a:t>Direct connections to hyperscale cloud providers will be established from the new colocations.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1C599D-7708-FCD7-1907-BD7C37B75820}"/>
              </a:ext>
            </a:extLst>
          </p:cNvPr>
          <p:cNvSpPr txBox="1"/>
          <p:nvPr/>
        </p:nvSpPr>
        <p:spPr>
          <a:xfrm>
            <a:off x="3328530" y="6576092"/>
            <a:ext cx="3354735" cy="19697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C00000"/>
                </a:solidFill>
              </a:rPr>
              <a:t>How can CVS stakeholders enable success?</a:t>
            </a:r>
          </a:p>
          <a:p>
            <a:pPr marL="171450" indent="-171450">
              <a:buFont typeface="Wingdings"/>
              <a:buChar char="ü"/>
            </a:pPr>
            <a:r>
              <a:rPr lang="en-US" sz="1100">
                <a:ea typeface="+mn-lt"/>
                <a:cs typeface="+mn-lt"/>
              </a:rPr>
              <a:t>Respond to requests for validating critical information relevant to your applications, network, and systems</a:t>
            </a:r>
          </a:p>
          <a:p>
            <a:pPr marL="171450" indent="-171450">
              <a:buFont typeface="Wingdings"/>
              <a:buChar char="ü"/>
            </a:pPr>
            <a:r>
              <a:rPr lang="en-US" sz="1100">
                <a:solidFill>
                  <a:srgbClr val="000000"/>
                </a:solidFill>
              </a:rPr>
              <a:t>Review communications to understand key steps in the migration/consolidation process</a:t>
            </a:r>
          </a:p>
          <a:p>
            <a:pPr marL="171450" indent="-171450">
              <a:buFont typeface="Wingdings"/>
              <a:buChar char="ü"/>
            </a:pPr>
            <a:r>
              <a:rPr lang="en-US" sz="1100">
                <a:solidFill>
                  <a:srgbClr val="000000"/>
                </a:solidFill>
              </a:rPr>
              <a:t>Support project resource needs by recognizing demands on critical teams during concurrent buildouts and migration phases</a:t>
            </a:r>
          </a:p>
          <a:p>
            <a:pPr marL="171450" indent="-171450">
              <a:buFont typeface="Wingdings"/>
              <a:buChar char="ü"/>
            </a:pPr>
            <a:r>
              <a:rPr lang="en-US" sz="1100">
                <a:solidFill>
                  <a:srgbClr val="000000"/>
                </a:solidFill>
              </a:rPr>
              <a:t>Participate in collaborative discussions to proactively resolve emerging risks or issues</a:t>
            </a:r>
          </a:p>
        </p:txBody>
      </p:sp>
      <p:pic>
        <p:nvPicPr>
          <p:cNvPr id="15" name="Picture 1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0A9EF8AA-FBB3-22EF-9DB9-98F7ADA9FE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52" r="6621"/>
          <a:stretch>
            <a:fillRect/>
          </a:stretch>
        </p:blipFill>
        <p:spPr>
          <a:xfrm>
            <a:off x="2860159" y="772354"/>
            <a:ext cx="3997842" cy="181221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006FC96-A77E-DE1E-8E51-F16FF52FD11A}"/>
              </a:ext>
            </a:extLst>
          </p:cNvPr>
          <p:cNvSpPr txBox="1"/>
          <p:nvPr/>
        </p:nvSpPr>
        <p:spPr>
          <a:xfrm>
            <a:off x="3400872" y="2383266"/>
            <a:ext cx="3214039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C00000"/>
                </a:solidFill>
              </a:rPr>
              <a:t>Which data centers are in-scope?</a:t>
            </a:r>
          </a:p>
          <a:p>
            <a:endParaRPr lang="en-US" sz="1100" b="1"/>
          </a:p>
          <a:p>
            <a:endParaRPr lang="en-US" sz="1100">
              <a:ea typeface="+mn-lt"/>
              <a:cs typeface="+mn-lt"/>
            </a:endParaRPr>
          </a:p>
          <a:p>
            <a:pPr algn="l"/>
            <a:endParaRPr lang="en-US" sz="1100" b="1">
              <a:solidFill>
                <a:srgbClr val="C00000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96FA1D5-B7CB-292E-7595-D1C748ED9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0660"/>
              </p:ext>
            </p:extLst>
          </p:nvPr>
        </p:nvGraphicFramePr>
        <p:xfrm>
          <a:off x="3479084" y="2639529"/>
          <a:ext cx="2634637" cy="17391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2042">
                  <a:extLst>
                    <a:ext uri="{9D8B030D-6E8A-4147-A177-3AD203B41FA5}">
                      <a16:colId xmlns:a16="http://schemas.microsoft.com/office/drawing/2014/main" val="206175159"/>
                    </a:ext>
                  </a:extLst>
                </a:gridCol>
                <a:gridCol w="1892595">
                  <a:extLst>
                    <a:ext uri="{9D8B030D-6E8A-4147-A177-3AD203B41FA5}">
                      <a16:colId xmlns:a16="http://schemas.microsoft.com/office/drawing/2014/main" val="1495341499"/>
                    </a:ext>
                  </a:extLst>
                </a:gridCol>
              </a:tblGrid>
              <a:tr h="27615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>
                          <a:solidFill>
                            <a:srgbClr val="C00000"/>
                          </a:solidFill>
                        </a:rPr>
                        <a:t>Location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chemeClr val="bg1">
                          <a:lumMod val="65000"/>
                        </a:schemeClr>
                      </a:solidFill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>
                          <a:solidFill>
                            <a:srgbClr val="C00000"/>
                          </a:solidFill>
                        </a:rPr>
                        <a:t>Timing</a:t>
                      </a:r>
                    </a:p>
                  </a:txBody>
                  <a:tcPr>
                    <a:lnL w="3175">
                      <a:solidFill>
                        <a:schemeClr val="bg1">
                          <a:lumMod val="65000"/>
                        </a:schemeClr>
                      </a:solidFill>
                    </a:lnL>
                    <a:lnR w="3175">
                      <a:solidFill>
                        <a:schemeClr val="bg1">
                          <a:lumMod val="65000"/>
                        </a:schemeClr>
                      </a:solidFill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4491482"/>
                  </a:ext>
                </a:extLst>
              </a:tr>
              <a:tr h="225945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C00000"/>
                          </a:solidFill>
                        </a:rPr>
                        <a:t>PDC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chemeClr val="bg1">
                          <a:lumMod val="65000"/>
                        </a:schemeClr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In-Progress</a:t>
                      </a:r>
                    </a:p>
                  </a:txBody>
                  <a:tcPr>
                    <a:lnL w="3175">
                      <a:solidFill>
                        <a:schemeClr val="bg1">
                          <a:lumMod val="65000"/>
                        </a:schemeClr>
                      </a:solidFill>
                    </a:lnL>
                    <a:lnR w="3175">
                      <a:solidFill>
                        <a:schemeClr val="bg1">
                          <a:lumMod val="65000"/>
                        </a:schemeClr>
                      </a:solidFill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067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C00000"/>
                          </a:solidFill>
                        </a:rPr>
                        <a:t>Shea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chemeClr val="bg1">
                          <a:lumMod val="65000"/>
                        </a:schemeClr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Immediate priority; EOY 2026</a:t>
                      </a:r>
                    </a:p>
                  </a:txBody>
                  <a:tcPr>
                    <a:lnL w="3175">
                      <a:solidFill>
                        <a:schemeClr val="bg1">
                          <a:lumMod val="65000"/>
                        </a:schemeClr>
                      </a:solidFill>
                    </a:lnL>
                    <a:lnR w="3175">
                      <a:solidFill>
                        <a:schemeClr val="bg1">
                          <a:lumMod val="65000"/>
                        </a:schemeClr>
                      </a:solidFill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814102"/>
                  </a:ext>
                </a:extLst>
              </a:tr>
              <a:tr h="225945">
                <a:tc>
                  <a:txBody>
                    <a:bodyPr/>
                    <a:lstStyle/>
                    <a:p>
                      <a:r>
                        <a:rPr lang="en-US" sz="1000"/>
                        <a:t>WDC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chemeClr val="bg1">
                          <a:lumMod val="65000"/>
                        </a:schemeClr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2027-2028</a:t>
                      </a:r>
                    </a:p>
                  </a:txBody>
                  <a:tcPr>
                    <a:lnL w="3175">
                      <a:solidFill>
                        <a:schemeClr val="bg1">
                          <a:lumMod val="65000"/>
                        </a:schemeClr>
                      </a:solidFill>
                    </a:lnL>
                    <a:lnR w="3175">
                      <a:solidFill>
                        <a:schemeClr val="bg1">
                          <a:lumMod val="65000"/>
                        </a:schemeClr>
                      </a:solidFill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823461"/>
                  </a:ext>
                </a:extLst>
              </a:tr>
              <a:tr h="225945">
                <a:tc>
                  <a:txBody>
                    <a:bodyPr/>
                    <a:lstStyle/>
                    <a:p>
                      <a:r>
                        <a:rPr lang="en-US" sz="1000"/>
                        <a:t>MDC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chemeClr val="bg1">
                          <a:lumMod val="65000"/>
                        </a:schemeClr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noProof="0">
                          <a:solidFill>
                            <a:srgbClr val="000000"/>
                          </a:solidFill>
                        </a:rPr>
                        <a:t>2027-2028</a:t>
                      </a:r>
                      <a:endParaRPr lang="en-US" sz="1000"/>
                    </a:p>
                  </a:txBody>
                  <a:tcPr>
                    <a:lnL w="3175">
                      <a:solidFill>
                        <a:schemeClr val="bg1">
                          <a:lumMod val="65000"/>
                        </a:schemeClr>
                      </a:solidFill>
                    </a:lnL>
                    <a:lnR w="3175">
                      <a:solidFill>
                        <a:schemeClr val="bg1">
                          <a:lumMod val="65000"/>
                        </a:schemeClr>
                      </a:solidFill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6279935"/>
                  </a:ext>
                </a:extLst>
              </a:tr>
              <a:tr h="225945">
                <a:tc>
                  <a:txBody>
                    <a:bodyPr/>
                    <a:lstStyle/>
                    <a:p>
                      <a:r>
                        <a:rPr lang="en-US" sz="1000"/>
                        <a:t>2100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chemeClr val="bg1">
                          <a:lumMod val="65000"/>
                        </a:schemeClr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noProof="0">
                          <a:solidFill>
                            <a:srgbClr val="000000"/>
                          </a:solidFill>
                        </a:rPr>
                        <a:t>2027-2028</a:t>
                      </a:r>
                      <a:endParaRPr lang="en-US" sz="1000"/>
                    </a:p>
                  </a:txBody>
                  <a:tcPr>
                    <a:lnL w="3175">
                      <a:solidFill>
                        <a:schemeClr val="bg1">
                          <a:lumMod val="65000"/>
                        </a:schemeClr>
                      </a:solidFill>
                    </a:lnL>
                    <a:lnR w="3175">
                      <a:solidFill>
                        <a:schemeClr val="bg1">
                          <a:lumMod val="65000"/>
                        </a:schemeClr>
                      </a:solidFill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2155013"/>
                  </a:ext>
                </a:extLst>
              </a:tr>
              <a:tr h="22594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1CVS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chemeClr val="bg1">
                          <a:lumMod val="65000"/>
                        </a:schemeClr>
                      </a:solidFill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noProof="0">
                          <a:solidFill>
                            <a:srgbClr val="000000"/>
                          </a:solidFill>
                        </a:rPr>
                        <a:t>2027-2028</a:t>
                      </a:r>
                      <a:endParaRPr lang="en-US" sz="1000"/>
                    </a:p>
                  </a:txBody>
                  <a:tcPr>
                    <a:lnL w="3175">
                      <a:solidFill>
                        <a:schemeClr val="bg1">
                          <a:lumMod val="65000"/>
                        </a:schemeClr>
                      </a:solidFill>
                    </a:lnL>
                    <a:lnR w="3175">
                      <a:solidFill>
                        <a:schemeClr val="bg1">
                          <a:lumMod val="65000"/>
                        </a:schemeClr>
                      </a:solidFill>
                    </a:lnR>
                    <a:lnT w="3175">
                      <a:solidFill>
                        <a:schemeClr val="bg1">
                          <a:lumMod val="65000"/>
                        </a:schemeClr>
                      </a:solidFill>
                    </a:lnT>
                    <a:lnB w="3175">
                      <a:solidFill>
                        <a:schemeClr val="bg1">
                          <a:lumMod val="6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234034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FCFF1B3-9843-AC54-826F-E6EACB8AB1E9}"/>
              </a:ext>
            </a:extLst>
          </p:cNvPr>
          <p:cNvSpPr txBox="1"/>
          <p:nvPr/>
        </p:nvSpPr>
        <p:spPr>
          <a:xfrm>
            <a:off x="210100" y="1092451"/>
            <a:ext cx="3040980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C00000"/>
                </a:solidFill>
              </a:rPr>
              <a:t>What is the Datacenter Consolidation and Migration Project?</a:t>
            </a:r>
          </a:p>
          <a:p>
            <a:r>
              <a:rPr lang="en-US" sz="1100">
                <a:ea typeface="+mn-lt"/>
                <a:cs typeface="+mn-lt"/>
              </a:rPr>
              <a:t>A large-scale initiative by</a:t>
            </a:r>
            <a:r>
              <a:rPr lang="en-US" sz="1100" b="1">
                <a:ea typeface="+mn-lt"/>
                <a:cs typeface="+mn-lt"/>
              </a:rPr>
              <a:t> CVS supported by KPMG</a:t>
            </a:r>
            <a:r>
              <a:rPr lang="en-US" sz="1100">
                <a:ea typeface="+mn-lt"/>
                <a:cs typeface="+mn-lt"/>
              </a:rPr>
              <a:t> to streamline and modernize CVS Health’s enterprise systems and data centers. The project involves moving critical infrastructure—servers, mainframes, and applications—from legacy and leased sites to new, high-power colocation facilities in </a:t>
            </a:r>
            <a:r>
              <a:rPr lang="en-US" sz="1100" b="1">
                <a:ea typeface="+mn-lt"/>
                <a:cs typeface="+mn-lt"/>
              </a:rPr>
              <a:t>Atlanta</a:t>
            </a:r>
            <a:r>
              <a:rPr lang="en-US" sz="1100">
                <a:ea typeface="+mn-lt"/>
                <a:cs typeface="+mn-lt"/>
              </a:rPr>
              <a:t> and </a:t>
            </a:r>
            <a:r>
              <a:rPr lang="en-US" sz="1100" b="1">
                <a:ea typeface="+mn-lt"/>
                <a:cs typeface="+mn-lt"/>
              </a:rPr>
              <a:t>Las Vegas</a:t>
            </a:r>
            <a:r>
              <a:rPr lang="en-US" sz="1100">
                <a:ea typeface="+mn-lt"/>
                <a:cs typeface="+mn-lt"/>
              </a:rPr>
              <a:t>. This will consolidate operations, improve efficiency, and ensure future readiness by funding and executing migrations for each site.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448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6B686DA490614FB1BEF26604C66A6F" ma:contentTypeVersion="17" ma:contentTypeDescription="Create a new document." ma:contentTypeScope="" ma:versionID="3a1be766548b5d019facbb4c504dcc74">
  <xsd:schema xmlns:xsd="http://www.w3.org/2001/XMLSchema" xmlns:xs="http://www.w3.org/2001/XMLSchema" xmlns:p="http://schemas.microsoft.com/office/2006/metadata/properties" xmlns:ns2="cf458bbb-7650-4dca-910f-140419a120bb" xmlns:ns3="d51c2e21-b2e3-4ff2-9ded-4afc6d5621c0" targetNamespace="http://schemas.microsoft.com/office/2006/metadata/properties" ma:root="true" ma:fieldsID="63b14588d78a71c9523794baeae5868c" ns2:_="" ns3:_="">
    <xsd:import namespace="cf458bbb-7650-4dca-910f-140419a120bb"/>
    <xsd:import namespace="d51c2e21-b2e3-4ff2-9ded-4afc6d5621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Status" minOccurs="0"/>
                <xsd:element ref="ns2:MediaServiceSearchProperties" minOccurs="0"/>
                <xsd:element ref="ns2:MediaLengthInSeconds" minOccurs="0"/>
                <xsd:element ref="ns2:MediaServiceDateTaken" minOccurs="0"/>
                <xsd:element ref="ns2:FileDescrip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458bbb-7650-4dca-910f-140419a12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8883d318-f35c-4577-94aa-4c8e836d27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Status" ma:index="19" nillable="true" ma:displayName="Status" ma:format="Dropdown" ma:internalName="Status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FileDescription" ma:index="23" nillable="true" ma:displayName="File Description" ma:format="Dropdown" ma:internalName="File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1c2e21-b2e3-4ff2-9ded-4afc6d5621c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3da17693-b3a5-45e9-9398-3c801014f304}" ma:internalName="TaxCatchAll" ma:showField="CatchAllData" ma:web="d51c2e21-b2e3-4ff2-9ded-4afc6d5621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ileDescription xmlns="cf458bbb-7650-4dca-910f-140419a120bb" xsi:nil="true"/>
    <lcf76f155ced4ddcb4097134ff3c332f xmlns="cf458bbb-7650-4dca-910f-140419a120bb">
      <Terms xmlns="http://schemas.microsoft.com/office/infopath/2007/PartnerControls"/>
    </lcf76f155ced4ddcb4097134ff3c332f>
    <TaxCatchAll xmlns="d51c2e21-b2e3-4ff2-9ded-4afc6d5621c0" xsi:nil="true"/>
    <Status xmlns="cf458bbb-7650-4dca-910f-140419a120bb" xsi:nil="true"/>
  </documentManagement>
</p:properties>
</file>

<file path=customXml/itemProps1.xml><?xml version="1.0" encoding="utf-8"?>
<ds:datastoreItem xmlns:ds="http://schemas.openxmlformats.org/officeDocument/2006/customXml" ds:itemID="{23B11C54-043B-4921-9D77-78E2DCFCAAF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B9DD3B-BC9E-4F27-B8A9-30DFFA347FD9}">
  <ds:schemaRefs>
    <ds:schemaRef ds:uri="cf458bbb-7650-4dca-910f-140419a120bb"/>
    <ds:schemaRef ds:uri="d51c2e21-b2e3-4ff2-9ded-4afc6d5621c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1CBAD61-95E6-4452-82BD-5DDBA3EE7808}">
  <ds:schemaRefs>
    <ds:schemaRef ds:uri="cf458bbb-7650-4dca-910f-140419a120bb"/>
    <ds:schemaRef ds:uri="d51c2e21-b2e3-4ff2-9ded-4afc6d5621c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461</Words>
  <Application>Microsoft Macintosh PowerPoint</Application>
  <PresentationFormat>Letter Paper (8.5x11 in)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Bahrami, Parsia</dc:creator>
  <cp:lastModifiedBy>Martin, Michael J</cp:lastModifiedBy>
  <cp:revision>2</cp:revision>
  <dcterms:created xsi:type="dcterms:W3CDTF">2026-01-05T20:24:50Z</dcterms:created>
  <dcterms:modified xsi:type="dcterms:W3CDTF">2026-02-24T16:39:45Z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0x010100E46B686DA490614FB1BEF26604C66A6F</vt:lpwstr>
  </property>
  <property fmtid="{D5CDD505-2E9C-101B-9397-08002B2CF9AE}" pid="3" name="MediaServiceImageTags">
    <vt:lpwstr/>
  </property>
  <property fmtid="{D5CDD505-2E9C-101B-9397-08002B2CF9AE}" pid="4" name="MSIP_Label_1ecdf243-b9b0-4f63-8694-76742e4201b7_Enabled">
    <vt:lpwstr>true</vt:lpwstr>
  </property>
  <property fmtid="{D5CDD505-2E9C-101B-9397-08002B2CF9AE}" pid="5" name="MSIP_Label_1ecdf243-b9b0-4f63-8694-76742e4201b7_SetDate">
    <vt:lpwstr>2026-02-24T16:39:45Z</vt:lpwstr>
  </property>
  <property fmtid="{D5CDD505-2E9C-101B-9397-08002B2CF9AE}" pid="6" name="MSIP_Label_1ecdf243-b9b0-4f63-8694-76742e4201b7_Method">
    <vt:lpwstr>Standard</vt:lpwstr>
  </property>
  <property fmtid="{D5CDD505-2E9C-101B-9397-08002B2CF9AE}" pid="7" name="MSIP_Label_1ecdf243-b9b0-4f63-8694-76742e4201b7_Name">
    <vt:lpwstr>Proprietary general</vt:lpwstr>
  </property>
  <property fmtid="{D5CDD505-2E9C-101B-9397-08002B2CF9AE}" pid="8" name="MSIP_Label_1ecdf243-b9b0-4f63-8694-76742e4201b7_SiteId">
    <vt:lpwstr>fabb61b8-3afe-4e75-b934-a47f782b8cd7</vt:lpwstr>
  </property>
  <property fmtid="{D5CDD505-2E9C-101B-9397-08002B2CF9AE}" pid="9" name="MSIP_Label_1ecdf243-b9b0-4f63-8694-76742e4201b7_ActionId">
    <vt:lpwstr>7e8a425f-589c-4020-ac05-27688ea6d21d</vt:lpwstr>
  </property>
  <property fmtid="{D5CDD505-2E9C-101B-9397-08002B2CF9AE}" pid="10" name="MSIP_Label_1ecdf243-b9b0-4f63-8694-76742e4201b7_ContentBits">
    <vt:lpwstr>0</vt:lpwstr>
  </property>
  <property fmtid="{D5CDD505-2E9C-101B-9397-08002B2CF9AE}" pid="11" name="MSIP_Label_1ecdf243-b9b0-4f63-8694-76742e4201b7_Tag">
    <vt:lpwstr>50, 3, 0, 1</vt:lpwstr>
  </property>
</Properties>
</file>